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93C5FD"/>
                </a:solidFill>
                <a:latin typeface="Calibri"/>
              </a:rPr>
              <a:t>PROYECTO DE CLASIFICACION DE IMAGENES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Clasificador de Mascotas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D1D9E6"/>
                </a:solidFill>
                <a:latin typeface="Calibri"/>
              </a:rPr>
              <a:t>Detector (perro / gato / ninguno) + modelo de raza — 3 modelos, 2 frameworks,
y una version PRO con transfer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93C5FD"/>
                </a:solidFill>
                <a:latin typeface="Calibri"/>
              </a:rPr>
              <a:t>PyTorch vs TensorFlow, entrenados desde cero — y su evolucion al modo PRO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FD5FF"/>
                </a:solidFill>
                <a:latin typeface="Calibri"/>
              </a:rPr>
              <a:t>VISION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Arquitectura: un pipeline en cascada de 2 etapas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108960"/>
            <a:ext cx="2834640" cy="11887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 dirty="0">
                <a:solidFill>
                  <a:srgbClr val="FFFFFF"/>
                </a:solidFill>
              </a:rPr>
              <a:t>Modelo 1: Detector</a:t>
            </a:r>
          </a:p>
          <a:p>
            <a:pPr algn="ctr"/>
            <a:r>
              <a:rPr sz="1300" dirty="0" err="1">
                <a:solidFill>
                  <a:srgbClr val="E5E7EB"/>
                </a:solidFill>
              </a:rPr>
              <a:t>perro</a:t>
            </a:r>
            <a:r>
              <a:rPr sz="1300" dirty="0">
                <a:solidFill>
                  <a:srgbClr val="E5E7EB"/>
                </a:solidFill>
              </a:rPr>
              <a:t> / gato / </a:t>
            </a:r>
            <a:r>
              <a:rPr sz="1300" dirty="0" err="1">
                <a:solidFill>
                  <a:srgbClr val="E5E7EB"/>
                </a:solidFill>
              </a:rPr>
              <a:t>ninguno</a:t>
            </a:r>
            <a:endParaRPr sz="1300" dirty="0">
              <a:solidFill>
                <a:srgbClr val="E5E7EB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74720" y="3429000"/>
            <a:ext cx="1005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4B5563"/>
                </a:solidFill>
                <a:latin typeface="Calibr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331720"/>
            <a:ext cx="2834640" cy="1188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FFFFFF"/>
                </a:solidFill>
              </a:rPr>
              <a:t>Modelo 2: Raza de perro</a:t>
            </a:r>
          </a:p>
          <a:p>
            <a:pPr algn="ctr"/>
            <a:r>
              <a:rPr sz="1300">
                <a:solidFill>
                  <a:srgbClr val="E5E7EB"/>
                </a:solidFill>
              </a:rPr>
              <a:t>si el detector dice “perro”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3886200"/>
            <a:ext cx="2834640" cy="11887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 dirty="0">
                <a:solidFill>
                  <a:srgbClr val="FFFFFF"/>
                </a:solidFill>
              </a:rPr>
              <a:t>Modelo 3: Raza de gato</a:t>
            </a:r>
          </a:p>
          <a:p>
            <a:pPr algn="ctr"/>
            <a:r>
              <a:rPr sz="1300" dirty="0" err="1">
                <a:solidFill>
                  <a:srgbClr val="E5E7EB"/>
                </a:solidFill>
              </a:rPr>
              <a:t>si</a:t>
            </a:r>
            <a:r>
              <a:rPr sz="1300" dirty="0">
                <a:solidFill>
                  <a:srgbClr val="E5E7EB"/>
                </a:solidFill>
              </a:rPr>
              <a:t> el detector dice “gato”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19" y="260604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4B5563"/>
                </a:solidFill>
                <a:latin typeface="Calibri"/>
              </a:rPr>
              <a:t>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19" y="4069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4B5563"/>
                </a:solidFill>
                <a:latin typeface="Calibri"/>
              </a:rPr>
              <a:t>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6002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E3A5F"/>
                </a:solidFill>
                <a:latin typeface="Calibri"/>
              </a:rPr>
              <a:t>•  Requisito no negociable del profesor: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–  los 3 modelos se construyen 2 veces cada uno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–  una vez en PyTorch, una vez en TensorFlow/Keras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–  = 6 entrenamientos completos, comparados entre si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3A5F"/>
                </a:solidFill>
                <a:latin typeface="Calibri"/>
              </a:rPr>
              <a:t>•  Todos entrenados desde cero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–  sin transfer learning en la version base (V1)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–  arquitecturas CNN equivalentes entre frameworks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3A5F"/>
                </a:solidFill>
                <a:latin typeface="Calibri"/>
              </a:rPr>
              <a:t>•  Clases desbalanceadas a proposito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–  35% perro / 35% gato / 30% ninguno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–  weighted loss + F1 por clase, no solo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Clasificador de Mascotas — Detector + Raza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FD5FF"/>
                </a:solidFill>
                <a:latin typeface="Calibri"/>
              </a:rPr>
              <a:t>VERSION 1 — ENTRENAMIENTO DESDE CERO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Como se entrenaron los 6 modelos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E3A5F"/>
                </a:solidFill>
                <a:latin typeface="Calibri"/>
              </a:rPr>
              <a:t>•  Arquitectura equivalente en ambos frameworks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–  bloques Conv2D(3x3) → BatchNorm → ReLU → MaxPool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–  cabezal “flatten” (detector) o “GAP” (razas, 60x menos parametros)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3A5F"/>
                </a:solidFill>
                <a:latin typeface="Calibri"/>
              </a:rPr>
              <a:t>•  Busqueda de hiperparametros con Optuna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–  bayesiana, con poda de trials no prometedores (MedianPruner)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–  los mismos resultados se comparten entre PyTorch y TF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3A5F"/>
                </a:solidFill>
                <a:latin typeface="Calibri"/>
              </a:rPr>
              <a:t>•  Mismo optimizador, misma tasa de aprendizaje, mismo batch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–  condicion necesaria para que la comparacion sea justa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3A5F"/>
                </a:solidFill>
                <a:latin typeface="Calibri"/>
              </a:rPr>
              <a:t>•  Paridad tecnica verificada entre frameworks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–  momentum de BatchNorm, inicializacion de pesos, weight decay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–  diferencias de hasta 100x en regularizacion si no se igualaban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371600"/>
          <a:ext cx="53035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Clases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Imagenes train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</a:rPr>
                        <a:t>Detector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</a:rPr>
                        <a:t>25.325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</a:rPr>
                        <a:t>Raza de perro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</a:rPr>
                        <a:t>20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</a:rPr>
                        <a:t>~14.000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</a:rPr>
                        <a:t>Raza de gato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</a:rPr>
                        <a:t>12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</a:rPr>
                        <a:t>~1.900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3977639"/>
            <a:ext cx="53035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Calibri"/>
              </a:rPr>
              <a:t>El dataset de razas de perro combina 3 fuentes (Stanford Dogs, Tsinghua Dogs y Oxford-IIIT Pet); el de gatos solo tiene Oxford-IIIT Pet — por eso hay menos clases de gato viables y, como se vera, es el modelo mas dificil de los tres.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Clasificador de Mascotas — Detector + Raza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FD5FF"/>
                </a:solidFill>
                <a:latin typeface="Calibri"/>
              </a:rPr>
              <a:t>VERSION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Tecnicas de entrenamiento aplicadas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35024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Contra el desbalance y overfitting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Weighted CrossEntropyLoss (inversa a la frecuencia)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Data augmentation: RandomResizedCrop, flip, RandAugment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MixUp (Beta(0.2, 0.2)) en los modelos de raza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RandomErasing: fuerza a mirar mas de un rasgo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Dropout + weight decay desacoplado (AdamW)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Early stopping (patience 6-12 epocas)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280160"/>
            <a:ext cx="365760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335024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Optimizacion del entrenamiento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82880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AdamW con weight decay desacoplado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ReduceLROnPlateau (factor 0.5, paciencia 4)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Optuna: busqueda bayesiana de hiperparametros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Precision mixta evaluada (sin beneficio, quedo apagada)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num_workers + pin_memory ajustados para no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F2937"/>
                </a:solidFill>
                <a:latin typeface="Calibri"/>
              </a:rPr>
              <a:t>–  dejar la GPU esperando datos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280160"/>
            <a:ext cx="3520440" cy="4572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60" y="1335024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Requisitos del profesor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828800"/>
            <a:ext cx="3246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Modo forzado: ignora “ninguno”,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F2937"/>
                </a:solidFill>
                <a:latin typeface="Calibri"/>
              </a:rPr>
              <a:t>–  responde solo perro/gato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Raza no identificada: umbral de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F2937"/>
                </a:solidFill>
                <a:latin typeface="Calibri"/>
              </a:rPr>
              <a:t>–  confianza calibrado en validacion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Metricas guardadas en archivo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F2937"/>
                </a:solidFill>
                <a:latin typeface="Calibri"/>
              </a:rPr>
              <a:t>–  (no solo impresas en consola)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F1 por clase + matriz de confusion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Grad-CAM para interpretabilidad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Clasificador de Mascotas — Detector + Raza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FD5FF"/>
                </a:solidFill>
                <a:latin typeface="Calibri"/>
              </a:rPr>
              <a:t>VERSION 1 —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Accuracy, F1 y modo forzado por modelo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80160"/>
          <a:ext cx="5623560" cy="31525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Framework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F1 macro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Modo forzado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</a:rPr>
                        <a:t>Detector</a:t>
                      </a:r>
                    </a:p>
                  </a:txBody>
                  <a:tcPr marL="73152" marR="73152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11827"/>
                          </a:solidFill>
                        </a:rPr>
                        <a:t>PyTorch</a:t>
                      </a:r>
                    </a:p>
                  </a:txBody>
                  <a:tcPr marL="73152" marR="73152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11827"/>
                          </a:solidFill>
                        </a:rPr>
                        <a:t>87.9%</a:t>
                      </a:r>
                    </a:p>
                  </a:txBody>
                  <a:tcPr marL="73152" marR="73152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11827"/>
                          </a:solidFill>
                        </a:rPr>
                        <a:t>87.9%</a:t>
                      </a:r>
                    </a:p>
                  </a:txBody>
                  <a:tcPr marL="73152" marR="73152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11827"/>
                          </a:solidFill>
                        </a:rPr>
                        <a:t>92.5%</a:t>
                      </a:r>
                    </a:p>
                  </a:txBody>
                  <a:tcPr marL="73152" marR="73152" anchor="ctr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11827"/>
                          </a:solidFill>
                        </a:rPr>
                        <a:t>Detector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</a:rPr>
                        <a:t>TensorFlow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</a:rPr>
                        <a:t>87.3%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</a:rPr>
                        <a:t>87.3%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</a:rPr>
                        <a:t>91.2%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</a:rPr>
                        <a:t>Raza de perro</a:t>
                      </a:r>
                    </a:p>
                  </a:txBody>
                  <a:tcPr marL="73152" marR="73152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11827"/>
                          </a:solidFill>
                        </a:rPr>
                        <a:t>PyTorch</a:t>
                      </a:r>
                    </a:p>
                  </a:txBody>
                  <a:tcPr marL="73152" marR="73152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11827"/>
                          </a:solidFill>
                        </a:rPr>
                        <a:t>75.7%</a:t>
                      </a:r>
                    </a:p>
                  </a:txBody>
                  <a:tcPr marL="73152" marR="73152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11827"/>
                          </a:solidFill>
                        </a:rPr>
                        <a:t>72.3%</a:t>
                      </a:r>
                    </a:p>
                  </a:txBody>
                  <a:tcPr marL="73152" marR="73152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 marL="73152" marR="73152" anchor="ctr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11827"/>
                          </a:solidFill>
                        </a:rPr>
                        <a:t>Raza de perro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</a:rPr>
                        <a:t>TensorFlow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</a:rPr>
                        <a:t>65.5%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</a:rPr>
                        <a:t>59.3%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11827"/>
                          </a:solidFill>
                        </a:rPr>
                        <a:t>Raza de gato</a:t>
                      </a:r>
                    </a:p>
                  </a:txBody>
                  <a:tcPr marL="73152" marR="73152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11827"/>
                          </a:solidFill>
                        </a:rPr>
                        <a:t>PyTorch</a:t>
                      </a:r>
                    </a:p>
                  </a:txBody>
                  <a:tcPr marL="73152" marR="73152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11827"/>
                          </a:solidFill>
                        </a:rPr>
                        <a:t>61.1%</a:t>
                      </a:r>
                    </a:p>
                  </a:txBody>
                  <a:tcPr marL="73152" marR="73152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11827"/>
                          </a:solidFill>
                        </a:rPr>
                        <a:t>60.1%</a:t>
                      </a:r>
                    </a:p>
                  </a:txBody>
                  <a:tcPr marL="73152" marR="73152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 marL="73152" marR="73152" anchor="ctr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13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11827"/>
                          </a:solidFill>
                        </a:rPr>
                        <a:t>Raza de gato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</a:rPr>
                        <a:t>TensorFlow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</a:rPr>
                        <a:t>36.1%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</a:rPr>
                        <a:t>33.9%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572000"/>
            <a:ext cx="55778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Calibri"/>
              </a:rPr>
              <a:t>PyTorch gano en los 3 modelos. La brecha crece con cuanto depende cada tarea de la data augmentation: chica en el detector (mucha data), enorme en gatos (dataset mas chico de los tres). Se analiza en el proximo slide.</a:t>
            </a:r>
          </a:p>
        </p:txBody>
      </p:sp>
      <p:pic>
        <p:nvPicPr>
          <p:cNvPr id="7" name="Picture 6" descr="comparacion_tf_vs_pyto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971800"/>
            <a:ext cx="5486400" cy="1645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Clasificador de Mascotas — Detector + Raza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FD5FF"/>
                </a:solidFill>
                <a:latin typeface="Calibri"/>
              </a:rPr>
              <a:t>VERSION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¿Por que TensorFlow rinde menos, y cada vez mas?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80160"/>
          <a:ext cx="6949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Brecha PyTorch − TF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Tamano del dataset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</a:rPr>
                        <a:t>Detector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</a:rPr>
                        <a:t>0.7 puntos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</a:rPr>
                        <a:t>25.325 imagenes (grande)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</a:rPr>
                        <a:t>Raza de perro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</a:rPr>
                        <a:t>10.2 puntos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</a:rPr>
                        <a:t>~14.000 imagenes (media)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</a:rPr>
                        <a:t>Raza de gato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</a:rPr>
                        <a:t>25.0 puntos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11827"/>
                          </a:solidFill>
                        </a:rPr>
                        <a:t>~1.900 imagenes (chica)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291840"/>
            <a:ext cx="6949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E3A5F"/>
                </a:solidFill>
                <a:latin typeface="Calibri"/>
              </a:rPr>
              <a:t>•  La arquitectura, hiperparametros y datos son identicos entre frameworks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3A5F"/>
                </a:solidFill>
                <a:latin typeface="Calibri"/>
              </a:rPr>
              <a:t>•  La augmentation agresiva NO es identica por dentro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–  RandomResizedCrop (recorta y deforma) vs RandomZoom (solo zoom centrado)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–  RandAugment: mismo nombre, operaciones y magnitudes distintas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–  MixUp: PyTorch empareja al azar, TF usa el batch invertido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B91C1C"/>
                </a:solidFill>
                <a:latin typeface="Calibri"/>
              </a:rPr>
              <a:t>•  Con poca data, la augmentation ES la mayor parte del dataset efectivo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–  el modelo ve cada foto real ~80 veces: lo que cambia es la augmentation</a:t>
            </a:r>
          </a:p>
        </p:txBody>
      </p:sp>
      <p:pic>
        <p:nvPicPr>
          <p:cNvPr id="7" name="Picture 6" descr="detector_pytorch_confusion_matrix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95450"/>
            <a:ext cx="1965960" cy="1638300"/>
          </a:xfrm>
          <a:prstGeom prst="rect">
            <a:avLst/>
          </a:prstGeom>
        </p:spPr>
      </p:pic>
      <p:pic>
        <p:nvPicPr>
          <p:cNvPr id="8" name="Picture 7" descr="detector_tensorflow_confusion_matrix_n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1695450"/>
            <a:ext cx="1965960" cy="1638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0" y="379476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Calibri"/>
              </a:rPr>
              <a:t>PyTorch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379476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EA580C"/>
                </a:solidFill>
                <a:latin typeface="Calibri"/>
              </a:rPr>
              <a:t>TensorFlow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206240"/>
            <a:ext cx="40233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Matriz de confusion normalizada del detector: el patron de errores es casi identico en ambos frameworks, evidencia de que el problema es el mismo en los dos (no un bug de un framework en particular).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Clasificador de Mascotas — Detector + Raza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FD5FF"/>
                </a:solidFill>
                <a:latin typeface="Calibri"/>
              </a:rPr>
              <a:t>VERSION 1 — HALLAZGOS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Dos problemas encontrados en los datos, no en el modelo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35024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Hallazgo 1: “teddy” = toy poodle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Confusion toy_poodle ↔ teddy: 73.6% (PyTorch)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F2937"/>
                </a:solidFill>
                <a:latin typeface="Calibri"/>
              </a:rPr>
              <a:t>–  y 76.2% (TensorFlow) — practicamente identica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“Teddy” (泰迪) es el nombre coloquial chino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F2937"/>
                </a:solidFill>
                <a:latin typeface="Calibri"/>
              </a:rPr>
              <a:t>–  del toy poodle en Tsinghua Dogs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El dataset los etiqueta como razas distintas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F2937"/>
                </a:solidFill>
                <a:latin typeface="Calibri"/>
              </a:rPr>
              <a:t>–  cuando en la practica son la misma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B91C1C"/>
                </a:solidFill>
                <a:latin typeface="Calibri"/>
              </a:rPr>
              <a:t>•  Misma confusion en los 2 frameworks = problema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B91C1C"/>
                </a:solidFill>
                <a:latin typeface="Calibri"/>
              </a:rPr>
              <a:t>–  de etiquetado del dataset, no del entrenamiento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80160"/>
            <a:ext cx="5486400" cy="4572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335024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Hallazgo 2: perros chicos confundidos con gatos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36.9% (PyTorch) y 40.3% (TF) de TODOS los errores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F2937"/>
                </a:solidFill>
                <a:latin typeface="Calibri"/>
              </a:rPr>
              <a:t>–  del detector son confusion mutua perro↔gato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Causa: la clase “perro” del detector salia solo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F2937"/>
                </a:solidFill>
                <a:latin typeface="Calibri"/>
              </a:rPr>
              <a:t>–  de Cats&amp;Dogs + COCO — sesgada a perros grandes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25.403 imagenes de razas chicas (chihuahua,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F2937"/>
                </a:solidFill>
                <a:latin typeface="Calibri"/>
              </a:rPr>
              <a:t>–  pomerania, teddy...) nunca entraban al detector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Un chihuahua se parece mas a un gato que a un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F2937"/>
                </a:solidFill>
                <a:latin typeface="Calibri"/>
              </a:rPr>
              <a:t>–  labrador: el modelo nunca vio el caso dificil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Clasificador de Mascotas — Detector + Raza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93C5FD"/>
                </a:solidFill>
                <a:latin typeface="Calibri"/>
              </a:rPr>
              <a:t>SEGUNDA PARTE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El modo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D1D9E6"/>
                </a:solidFill>
                <a:latin typeface="Calibri"/>
              </a:rPr>
              <a:t>Transfer learning, mas datos, y las tecnicas que corrigen los problemas
encontrados en la version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FD5FF"/>
                </a:solidFill>
                <a:latin typeface="Calibri"/>
              </a:rPr>
              <a:t>MODO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Que cambia respecto a la version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•  La V1 queda intacta y congelada (tag v1-presentacion)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–  es el entregable academico; el PRO es la evolucion posterior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•  Transfer learning permitido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–  backbone preentrenado en ImageNet (ConvNeXt-Tiny)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–  ya “sabe ver” texturas, formas, bordes: solo se adapta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•  Solo PyTorch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–  gano los 3 modelos en la V1, se descarta TF para el PRO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3A5F"/>
                </a:solidFill>
                <a:latin typeface="Calibri"/>
              </a:rPr>
              <a:t>•  Mas datos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–  PetFinder (~67 etiquetas de gato) y AFHQ (perro/gato/salvaje)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–  30 razas de perro (vs 20) y 25 razas de gato (vs 12)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0" y="1463040"/>
          <a:ext cx="51206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V1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PRO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11827"/>
                          </a:solidFill>
                        </a:rPr>
                        <a:t>Entrenamiento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</a:rPr>
                        <a:t>Desde cero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</a:rPr>
                        <a:t>Transfer learning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11827"/>
                          </a:solidFill>
                        </a:rPr>
                        <a:t>Framework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</a:rPr>
                        <a:t>PyTorch + TF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</a:rPr>
                        <a:t>Solo PyTorch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11827"/>
                          </a:solidFill>
                        </a:rPr>
                        <a:t>Arquitectura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</a:rPr>
                        <a:t>CNN simple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</a:rPr>
                        <a:t>ConvNeXt-Tiny (27.8M par.)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0" y="3749039"/>
            <a:ext cx="5120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4B5563"/>
                </a:solidFill>
                <a:latin typeface="Calibri"/>
              </a:rPr>
              <a:t>El objetivo del PRO no es solo “ganarle el numero” a la V1: es preparar el modelo para produccion real — mas razas reconocibles, confianza calibrada, y resistencia a las condiciones de una foto de camara real.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Clasificador de Mascotas — Detector + Raza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FD5FF"/>
                </a:solidFill>
                <a:latin typeface="Calibri"/>
              </a:rPr>
              <a:t>MODO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Tecnicas nuevas, mas alla del entrenamiento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35024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Transfer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Fine-tuning en 2 fases: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F2937"/>
                </a:solidFill>
                <a:latin typeface="Calibri"/>
              </a:rPr>
              <a:t>–  1. cabeza sola, backbone congelado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F2937"/>
                </a:solidFill>
                <a:latin typeface="Calibri"/>
              </a:rPr>
              <a:t>–  2. todo, LR backbone 10x menor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Cosine annealing del LR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Label smoothing (0.1)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TF32 + cudnn.benchmark en GPU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280160"/>
            <a:ext cx="365760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335024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Para produccion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82880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Aug “produccion”: recompresion JPEG,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F2937"/>
                </a:solidFill>
                <a:latin typeface="Calibri"/>
              </a:rPr>
              <a:t>–  perspectiva, escala de grises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F2937"/>
                </a:solidFill>
                <a:latin typeface="Calibri"/>
              </a:rPr>
              <a:t>–  simula fotos reales de camara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Calibracion de temperatura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F2937"/>
                </a:solidFill>
                <a:latin typeface="Calibri"/>
              </a:rPr>
              <a:t>–  (Guo et al. 2017): confianza honesta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F2937"/>
                </a:solidFill>
                <a:latin typeface="Calibri"/>
              </a:rPr>
              <a:t>–  sin cambiar ninguna prediccion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TTA: promedio con el espejo horizontal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Sampling balanceado por raza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F2937"/>
                </a:solidFill>
                <a:latin typeface="Calibri"/>
              </a:rPr>
              <a:t>–  (PetFinder deja clases muy desparejas)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280160"/>
            <a:ext cx="3520440" cy="4572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60" y="1335024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Contra el problema encontrado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828800"/>
            <a:ext cx="3246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Refuerzo del detector con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F2937"/>
                </a:solidFill>
                <a:latin typeface="Calibri"/>
              </a:rPr>
              <a:t>–  razas chicas (el fix directo del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F2937"/>
                </a:solidFill>
                <a:latin typeface="Calibri"/>
              </a:rPr>
              <a:t>–  hallazgo perro↔gato de la V1)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AFHQ “salvaje” como negativo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F2937"/>
                </a:solidFill>
                <a:latin typeface="Calibri"/>
              </a:rPr>
              <a:t>–  dificil de la clase “ninguno”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Guardado a mayor resolucion:</a:t>
            </a:r>
          </a:p>
          <a:p>
            <a:pPr lvl="1">
              <a:spcAft>
                <a:spcPts val="500"/>
              </a:spcAft>
            </a:pPr>
            <a:r>
              <a:rPr sz="1100">
                <a:solidFill>
                  <a:srgbClr val="1F2937"/>
                </a:solidFill>
                <a:latin typeface="Calibri"/>
              </a:rPr>
              <a:t>–  crop real, no re-ampliado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Clasificador de Mascotas — Detector + Raza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FD5FF"/>
                </a:solidFill>
                <a:latin typeface="Calibri"/>
              </a:rPr>
              <a:t>MODO PRO —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V1 vs PRO: accuracy, clases y ROC-AUC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80160"/>
          <a:ext cx="5943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V1 (clases)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PRO (clases)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V1 Acc.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PRO Acc.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PRO ROC-AUC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11827"/>
                          </a:solidFill>
                        </a:rPr>
                        <a:t>Detector</a:t>
                      </a:r>
                    </a:p>
                  </a:txBody>
                  <a:tcPr marL="73152" marR="73152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 marL="73152" marR="73152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827"/>
                          </a:solidFill>
                        </a:rPr>
                        <a:t>3</a:t>
                      </a:r>
                    </a:p>
                  </a:txBody>
                  <a:tcPr marL="73152" marR="73152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827"/>
                          </a:solidFill>
                        </a:rPr>
                        <a:t>87.9%</a:t>
                      </a:r>
                    </a:p>
                  </a:txBody>
                  <a:tcPr marL="73152" marR="73152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827"/>
                          </a:solidFill>
                        </a:rPr>
                        <a:t>99.4%</a:t>
                      </a:r>
                    </a:p>
                  </a:txBody>
                  <a:tcPr marL="73152" marR="73152"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827"/>
                          </a:solidFill>
                        </a:rPr>
                        <a:t>0.999</a:t>
                      </a:r>
                    </a:p>
                  </a:txBody>
                  <a:tcPr marL="73152" marR="73152" anchor="ctr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Raza de perro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</a:rPr>
                        <a:t>20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</a:rPr>
                        <a:t>30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</a:rPr>
                        <a:t>75.7%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</a:rPr>
                        <a:t>89.7%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</a:rPr>
                        <a:t>0.993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</a:rPr>
                        <a:t>Raza de gato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</a:rPr>
                        <a:t>12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</a:rPr>
                        <a:t>25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</a:rPr>
                        <a:t>61.1%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</a:rPr>
                        <a:t>60.7%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</a:rPr>
                        <a:t>0.914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474720"/>
            <a:ext cx="5760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5803D"/>
                </a:solidFill>
                <a:latin typeface="Calibri"/>
              </a:rPr>
              <a:t>•  Detector: +11.5 puntos, ademas de negativos dificiles (AFHQ)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5803D"/>
                </a:solidFill>
                <a:latin typeface="Calibri"/>
              </a:rPr>
              <a:t>•  Raza de perro: +14 puntos Y 10 razas mas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E3A5F"/>
                </a:solidFill>
                <a:latin typeface="Calibri"/>
              </a:rPr>
              <a:t>•  Raza de gato: accuracy estable pero clases x2.1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–  el objetivo real era ese, no ganarle el numero a la V1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–  PetFinder resuelve el cuello de botella de datos que</a:t>
            </a:r>
          </a:p>
          <a:p>
            <a:pPr lvl="1"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–  explicaba la brecha TF vs PyTorch de la V1</a:t>
            </a:r>
          </a:p>
        </p:txBody>
      </p:sp>
      <p:pic>
        <p:nvPicPr>
          <p:cNvPr id="7" name="Picture 6" descr="comparacion_base_vs_p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321560"/>
            <a:ext cx="5303520" cy="2946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Clasificador de Mascotas — Detector + Raza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BFD5FF"/>
                </a:solidFill>
                <a:latin typeface="Calibri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Que muestra el recorrido V1 →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1E3A5F"/>
                </a:solidFill>
                <a:latin typeface="Calibri"/>
              </a:rPr>
              <a:t>•  Con datos abundantes, PyTorch y TensorFlow convergen (detector: 0.7 puntos de diferencia)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E3A5F"/>
                </a:solidFill>
                <a:latin typeface="Calibri"/>
              </a:rPr>
              <a:t>•  Con datos escasos, las diferencias de implementacion INTERNAS de cada framework dominan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–  la augmentation pasa a ser la principal fuente de variedad del entrenamiento, y ahi ya no es identica entre frameworks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E3A5F"/>
                </a:solidFill>
                <a:latin typeface="Calibri"/>
              </a:rPr>
              <a:t>•  Los errores de un modelo son diagnosticables con las herramientas correctas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–  matriz de confusion → identifico perro↔gato como el 37-40% de los errores del detector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–  comparacion entre frameworks → confirmo que “teddy” = toy_poodle es un problema del dataset, no del entrenamiento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15803D"/>
                </a:solidFill>
                <a:latin typeface="Calibri"/>
              </a:rPr>
              <a:t>•  El modo PRO ataca esos hallazgos de forma directa, no generica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–  mas datos de razas chicas, mas resolucion de guardado, augmentation de camara real, calibracion de confianza</a:t>
            </a:r>
          </a:p>
          <a:p>
            <a:pPr lvl="1">
              <a:spcAft>
                <a:spcPts val="12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–  resultado: +11 a +14 puntos de accuracy, y hasta 2.1x mas clases reconocibles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Clasificador de Mascotas — Detector + Raza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9CA3A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</TotalTime>
  <Words>1798</Words>
  <Application>Microsoft Office PowerPoint</Application>
  <PresentationFormat>Panorámica</PresentationFormat>
  <Paragraphs>275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Ariel Van Kilsdonk Munizaga</cp:lastModifiedBy>
  <cp:revision>2</cp:revision>
  <dcterms:created xsi:type="dcterms:W3CDTF">2013-01-27T09:14:16Z</dcterms:created>
  <dcterms:modified xsi:type="dcterms:W3CDTF">2026-08-20T16:34:36Z</dcterms:modified>
  <cp:category/>
</cp:coreProperties>
</file>